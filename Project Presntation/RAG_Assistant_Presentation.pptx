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12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6" y="913486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DOCUMENT ASSISTANT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Notes RAG Assistant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web app that answers questions from a personal study-notes corpus — grounded, cited, and hallucination-resistant.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Attia Hamdan Khalil   |   Level 2 Summer Training — Graduation Project   |   Core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LLMs Answering Alone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4F5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96" y="1914296"/>
            <a:ext cx="606247" cy="6062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Retrieval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375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from its own general training data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verify the answer against real course material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Confident-sounding hallucinations look identical to facts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traceability — no source to check or cite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828800"/>
            <a:ext cx="777240" cy="77724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0" name="Image 1" descr="g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896" y="1914296"/>
            <a:ext cx="606247" cy="6062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2940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RAG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33375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exact course-note chunks relevant to the question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instructed to answer ONLY from that context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its source document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isn’t in the notes, the assistant says so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&amp;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own course notes — Computer Architecture, Systems Analysis, and NLP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5000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Assembly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6517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syscalls, the even/odd checker exercise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5FA"/>
          </a:solidFill>
          <a:ln/>
        </p:spPr>
      </p:sp>
      <p:sp>
        <p:nvSpPr>
          <p:cNvPr id="10" name="Shape 8"/>
          <p:cNvSpPr/>
          <p:nvPr/>
        </p:nvSpPr>
        <p:spPr>
          <a:xfrm>
            <a:off x="3575304" y="18562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75304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235000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26517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Comparators, rotators, sign extension, barrel shifters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5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7376" y="18562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37376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35000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6517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network layers, protocol mapping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16916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5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9448" y="18562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9448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99448" y="235000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299448" y="26517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requirement types + 6 elicitation techniques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5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3502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99592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29768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stemming, lemmatization, n-grams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10712" y="33375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5FA"/>
          </a:solidFill>
          <a:ln/>
        </p:spPr>
      </p:sp>
      <p:sp>
        <p:nvSpPr>
          <p:cNvPr id="30" name="Shape 28"/>
          <p:cNvSpPr/>
          <p:nvPr/>
        </p:nvSpPr>
        <p:spPr>
          <a:xfrm>
            <a:off x="3575304" y="3502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75304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575304" y="399592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NER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75304" y="429768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tagging, BIO scheme, IMDB sentiment 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72784" y="33375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5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37376" y="3502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37376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37376" y="399592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Classification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437376" y="429768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Naive Bayes, precision/recall/F1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34856" y="33375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34856" y="34472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41" name="Text 39"/>
          <p:cNvSpPr txBox="1"/>
          <p:nvPr/>
        </p:nvSpPr>
        <p:spPr>
          <a:xfrm>
            <a:off x="9134856" y="41788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· all .txt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OCR needed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76656" y="20116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293876" y="221284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285" y="2283257"/>
            <a:ext cx="499262" cy="4992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29718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Notes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310128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.txt files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96896" y="2962656"/>
            <a:ext cx="274320" cy="201168"/>
          </a:xfrm>
          <a:prstGeom prst="rightArrow">
            <a:avLst/>
          </a:prstGeom>
          <a:solidFill>
            <a:srgbClr val="3DDC97"/>
          </a:solidFill>
          <a:ln/>
        </p:spPr>
      </p:sp>
      <p:sp>
        <p:nvSpPr>
          <p:cNvPr id="9" name="Shape 6"/>
          <p:cNvSpPr/>
          <p:nvPr/>
        </p:nvSpPr>
        <p:spPr>
          <a:xfrm>
            <a:off x="2916936" y="20116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534156" y="221284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sciss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565" y="2283257"/>
            <a:ext cx="499262" cy="4992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90088" y="29718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2990088" y="3310128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words / 20 overlap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37176" y="2962656"/>
            <a:ext cx="274320" cy="201168"/>
          </a:xfrm>
          <a:prstGeom prst="rightArrow">
            <a:avLst/>
          </a:prstGeom>
          <a:solidFill>
            <a:srgbClr val="3DDC97"/>
          </a:solidFill>
          <a:ln/>
        </p:spPr>
      </p:sp>
      <p:sp>
        <p:nvSpPr>
          <p:cNvPr id="15" name="Shape 11"/>
          <p:cNvSpPr/>
          <p:nvPr/>
        </p:nvSpPr>
        <p:spPr>
          <a:xfrm>
            <a:off x="5157216" y="20116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774436" y="221284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845" y="2283257"/>
            <a:ext cx="499262" cy="4992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30368" y="29718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230368" y="3310128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Chroma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077456" y="2962656"/>
            <a:ext cx="274320" cy="201168"/>
          </a:xfrm>
          <a:prstGeom prst="rightArrow">
            <a:avLst/>
          </a:prstGeom>
          <a:solidFill>
            <a:srgbClr val="3DDC97"/>
          </a:solidFill>
          <a:ln/>
        </p:spPr>
      </p:sp>
      <p:sp>
        <p:nvSpPr>
          <p:cNvPr id="21" name="Shape 16"/>
          <p:cNvSpPr/>
          <p:nvPr/>
        </p:nvSpPr>
        <p:spPr>
          <a:xfrm>
            <a:off x="7397496" y="20116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8014716" y="221284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125" y="2283257"/>
            <a:ext cx="499262" cy="49926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70648" y="29718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7470648" y="3310128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 chunks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9317736" y="2962656"/>
            <a:ext cx="274320" cy="201168"/>
          </a:xfrm>
          <a:prstGeom prst="rightArrow">
            <a:avLst/>
          </a:prstGeom>
          <a:solidFill>
            <a:srgbClr val="3DDC97"/>
          </a:solidFill>
          <a:ln/>
        </p:spPr>
      </p:sp>
      <p:sp>
        <p:nvSpPr>
          <p:cNvPr id="27" name="Shape 21"/>
          <p:cNvSpPr/>
          <p:nvPr/>
        </p:nvSpPr>
        <p:spPr>
          <a:xfrm>
            <a:off x="9637776" y="201168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28" name="Shape 22"/>
          <p:cNvSpPr/>
          <p:nvPr/>
        </p:nvSpPr>
        <p:spPr>
          <a:xfrm>
            <a:off x="10254996" y="221284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4" descr="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5405" y="2283257"/>
            <a:ext cx="499262" cy="49926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10928" y="29718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9710928" y="3310128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676656" y="164592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(Notebook) — runs once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2528316" y="46634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283374"/>
          </a:solidFill>
          <a:ln/>
        </p:spPr>
      </p:sp>
      <p:sp>
        <p:nvSpPr>
          <p:cNvPr id="34" name="Shape 27"/>
          <p:cNvSpPr/>
          <p:nvPr/>
        </p:nvSpPr>
        <p:spPr>
          <a:xfrm>
            <a:off x="2756916" y="4983480"/>
            <a:ext cx="777240" cy="77724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35" name="Image 5" descr="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2412" y="5068976"/>
            <a:ext cx="606247" cy="60624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717036" y="4956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3717036" y="5349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· POST /query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5893308" y="5230368"/>
            <a:ext cx="402336" cy="237744"/>
          </a:xfrm>
          <a:prstGeom prst="rightArrow">
            <a:avLst/>
          </a:prstGeom>
          <a:solidFill>
            <a:srgbClr val="3DDC97"/>
          </a:solidFill>
          <a:ln/>
        </p:spPr>
      </p:sp>
      <p:sp>
        <p:nvSpPr>
          <p:cNvPr id="39" name="Shape 31"/>
          <p:cNvSpPr/>
          <p:nvPr/>
        </p:nvSpPr>
        <p:spPr>
          <a:xfrm>
            <a:off x="6368796" y="46634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283374"/>
          </a:solidFill>
          <a:ln/>
        </p:spPr>
      </p:sp>
      <p:sp>
        <p:nvSpPr>
          <p:cNvPr id="40" name="Shape 32"/>
          <p:cNvSpPr/>
          <p:nvPr/>
        </p:nvSpPr>
        <p:spPr>
          <a:xfrm>
            <a:off x="6597396" y="4983480"/>
            <a:ext cx="777240" cy="77724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41" name="Image 6" descr="ch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2892" y="5068976"/>
            <a:ext cx="606247" cy="606247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557516" y="4956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7557516" y="5349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+ cited sources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270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/ chunk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4173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5270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286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overlap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5270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chunks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14173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15270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→ 25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286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to chunks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fixed-size over semantic/section-based splitting?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notes are short (~220-265 words) and single-topic — a semantic splitter would mostly return "one chunk per document," losing fine-grained retrieval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90-word chunks give ~3 chunks/document — fine-grained enough that one retrieved chunk usually answers one specific question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20-word overlap prevents a fact from being silently cut in half at a chunk boundary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well within a small local Ollama model’s context window, even retrieving 3 chunks at once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Vector Store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4F5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17721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 sandbox had no internet access to download neural embedding weights (sentence-transformers, Ollama embed models).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77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fit a TfidfVectorizer on the chunk corpus and persist it — fully offline, deterministic, and reproducible for grading.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50292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3DDC9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5029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1-line upgrade path to real neural embeddings once online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691640"/>
            <a:ext cx="731520" cy="73152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3" name="Image 1" descr="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1772107"/>
            <a:ext cx="570586" cy="5705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Pipeline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0175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→ TfidfVectorizer.fit_transform() → dense vectors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+ text + metadata → ChromaDB PersistentClient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persisted to disk (backend/data/vector_store/)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vectorizer pickled alongside it — needed to embed future queries the same way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loads everything ONCE at startup — never rebuilds per-request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 Grounded Prompting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1442009"/>
            <a:ext cx="499262" cy="4992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Retrieve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 with the same fitted vectorizer, query Chroma for top-k similar chunks by cosine distance.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769" y="1442009"/>
            <a:ext cx="499262" cy="4992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Ground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1488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prompt that instructs the LLM to answer ONLY from retrieved context, and to cite the source file.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3226"/>
            </a:avLst>
          </a:prstGeom>
          <a:solidFill>
            <a:srgbClr val="1B1F3B"/>
          </a:solidFill>
          <a:ln/>
        </p:spPr>
      </p:sp>
      <p:sp>
        <p:nvSpPr>
          <p:cNvPr id="12" name="Shape 8"/>
          <p:cNvSpPr/>
          <p:nvPr/>
        </p:nvSpPr>
        <p:spPr>
          <a:xfrm>
            <a:off x="548640" y="3337560"/>
            <a:ext cx="11064240" cy="365760"/>
          </a:xfrm>
          <a:prstGeom prst="roundRect">
            <a:avLst>
              <a:gd name="adj" fmla="val 25000"/>
            </a:avLst>
          </a:prstGeom>
          <a:solidFill>
            <a:srgbClr val="2A2F55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7724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TEMPLATE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38404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study-notes assistant. Answer the question using ONLY the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below. If the answer is not in the context, say you don't know.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cite the source file(s) you used at the end.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[Source: 05_nlp_text_preprocessing.txt]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"Stemming crudely chops word endings... Lemmatization is a more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linguistically informed alternative..."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What is the difference between stemming and lemmatization?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(cite sources like [source_file.txt]):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2.6 — tested on 12 questions covering all 7 source documents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91840" cy="3291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retrieval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7132320" cy="1417320"/>
          </a:xfrm>
          <a:prstGeom prst="roundRect">
            <a:avLst>
              <a:gd name="adj" fmla="val 6452"/>
            </a:avLst>
          </a:prstGeom>
          <a:solidFill>
            <a:srgbClr val="2833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8288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correctly matched to their source document — exceeding the 10-question minimum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3337560"/>
            <a:ext cx="7132320" cy="1691640"/>
          </a:xfrm>
          <a:prstGeom prst="roundRect">
            <a:avLst>
              <a:gd name="adj" fmla="val 5405"/>
            </a:avLst>
          </a:prstGeom>
          <a:solidFill>
            <a:srgbClr val="2833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34747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observed during development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88620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short/generic questions caused near-tied TF-IDF distances between unrelated documents — a known limitation of keyword-based embeddings vs. neural embeddings.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578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small 90-word chunks · retrieve k=2-3 chunks not 1 · documented upgrade path to neural embeddings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43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LLM generation was tested in "fallback" (extractive) mode — the sandboxed dev environment had no local Ollama server. Retrieval logic and grounding were fully verified; running with Ollama live gives real LLM answers with zero code changes.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FastAPI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" y="1447038"/>
            <a:ext cx="534924" cy="5349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DDC9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status + chunk count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/query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retrieval → LLM → grounded answer + sources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" y="3870198"/>
            <a:ext cx="534924" cy="5349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7160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with pytest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test_health_ok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test_query_happy_path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test_query_invalid_input_empty_question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test_query_invalid_input_missing_field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" y="6080760"/>
            <a:ext cx="7589520" cy="457200"/>
          </a:xfrm>
          <a:prstGeom prst="roundRect">
            <a:avLst>
              <a:gd name="adj" fmla="val 16000"/>
            </a:avLst>
          </a:prstGeom>
          <a:solidFill>
            <a:srgbClr val="3DDC97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48640" y="6080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 tests passed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503920" y="1371600"/>
            <a:ext cx="3108960" cy="51663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7325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Lifecycle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732520" y="2103120"/>
            <a:ext cx="320040" cy="3200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73252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18972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starts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732520" y="2880360"/>
            <a:ext cx="320040" cy="3200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73252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18972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vectorizer.pkl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732520" y="3657600"/>
            <a:ext cx="320040" cy="3200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73252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918972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Chroma collection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732520" y="4434840"/>
            <a:ext cx="320040" cy="3200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73252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189720" y="4389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serve /query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732520" y="5212080"/>
            <a:ext cx="320040" cy="320040"/>
          </a:xfrm>
          <a:prstGeom prst="ellipse">
            <a:avLst/>
          </a:prstGeom>
          <a:solidFill>
            <a:srgbClr val="6B7BA8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9189720" y="5166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rebuilds per request)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Streamlit Chat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5120640"/>
          </a:xfrm>
          <a:prstGeom prst="roundRect">
            <a:avLst>
              <a:gd name="adj" fmla="val 2500"/>
            </a:avLst>
          </a:prstGeom>
          <a:solidFill>
            <a:srgbClr val="F4F5FA"/>
          </a:solidFill>
          <a:ln w="12700">
            <a:solidFill>
              <a:srgbClr val="D8DC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852160" cy="502920"/>
          </a:xfrm>
          <a:prstGeom prst="roundRect">
            <a:avLst>
              <a:gd name="adj" fmla="val 2545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Study Notes Assistant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2103120"/>
            <a:ext cx="288036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stemming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lemmatization?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42062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D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926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crudely chops word endings to a common root, which can produce non-words. Lemmatization uses vocabulary and morphology to reduce a word to its dictionary form.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05_nlp_text_preprocessing.txt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5806440"/>
            <a:ext cx="53949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D8D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806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your study notes...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1463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849" y="1533449"/>
            <a:ext cx="499262" cy="49926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7266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228600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interface with full conversation history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API_BASE_URL read from environment — never hard-coded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spinner while the backend retrieves + generates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 message if the backend is unreachable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when an answer came from the offline fallback vs. a real LLM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1011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يوسف عطيه</cp:lastModifiedBy>
  <cp:revision>2</cp:revision>
  <dcterms:created xsi:type="dcterms:W3CDTF">2026-09-09T18:25:46Z</dcterms:created>
  <dcterms:modified xsi:type="dcterms:W3CDTF">2026-09-10T00:09:50Z</dcterms:modified>
</cp:coreProperties>
</file>